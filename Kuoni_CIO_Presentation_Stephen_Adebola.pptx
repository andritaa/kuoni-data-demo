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6975" y="0"/>
            <a:ext cx="3474720" cy="6858000"/>
          </a:xfrm>
          <a:prstGeom prst="rect">
            <a:avLst/>
          </a:prstGeom>
          <a:solidFill>
            <a:srgbClr val="17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71255" y="1371600"/>
            <a:ext cx="64008" cy="4114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291840"/>
            <a:ext cx="7498079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CIO MEETING  · 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Turning Snowflake</a:t>
            </a:r>
          </a:p>
          <a:p>
            <a:pPr algn="l"/>
            <a:r>
              <a:rPr sz="4200" b="1" i="1">
                <a:solidFill>
                  <a:srgbClr val="C9A96E"/>
                </a:solidFill>
                <a:latin typeface="Georgia"/>
              </a:rPr>
              <a:t>into a Strategic 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ED4"/>
                </a:solidFill>
                <a:latin typeface="Calibri"/>
              </a:rPr>
              <a:t>A practical roadmap for making Kuoni's data platform the
foundation for better decisions and lasting competitive advantage.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572000"/>
            <a:ext cx="5029200" cy="1645920"/>
          </a:xfrm>
          <a:prstGeom prst="rect">
            <a:avLst/>
          </a:prstGeom>
          <a:solidFill>
            <a:srgbClr val="14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96E"/>
                </a:solidFill>
                <a:latin typeface="Calibri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Stephen Adebola  —  Data 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303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ED4"/>
                </a:solidFill>
                <a:latin typeface="Calibri"/>
              </a:rPr>
              <a:t>For: Richard Nunn, CIO · Kuoni / DERTOUR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681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ED4"/>
                </a:solidFill>
                <a:latin typeface="Calibri"/>
              </a:rPr>
              <a:t>Via: Xavier Labat · La Fosse Associates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9A96E"/>
                </a:solidFill>
                <a:latin typeface="Calibri"/>
              </a:rPr>
              <a:t>Strictly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KUONI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A96E"/>
                </a:solidFill>
                <a:latin typeface="Calibri"/>
              </a:rPr>
              <a:t>Data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A96E"/>
                </a:solidFill>
                <a:latin typeface="Calibri"/>
              </a:rPr>
              <a:t>Platform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3749039"/>
            <a:ext cx="1645920" cy="3657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164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Georgia"/>
              </a:rPr>
              <a:t>KUONI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2062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9A96E"/>
                </a:solidFill>
                <a:latin typeface="Calibri"/>
              </a:rPr>
              <a:t>Data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C895"/>
                </a:solidFill>
                <a:latin typeface="Calibri"/>
              </a:rPr>
              <a:t>01  ·  THE SITUATION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ED4"/>
                </a:solidFill>
                <a:latin typeface="Calibri"/>
              </a:rPr>
              <a:t>Confidential · Stephen Adebola ·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7772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4F6B"/>
                </a:solidFill>
                <a:latin typeface="Georgia"/>
              </a:rPr>
              <a:t>Where you are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25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Snowflake is live — but working below its potential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1097280" cy="3657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828800"/>
            <a:ext cx="3566160" cy="4206240"/>
          </a:xfrm>
          <a:prstGeom prst="rect">
            <a:avLst/>
          </a:prstGeom>
          <a:solidFill>
            <a:srgbClr val="F8F6F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828800"/>
            <a:ext cx="3566160" cy="54864"/>
          </a:xfrm>
          <a:prstGeom prst="rect">
            <a:avLst/>
          </a:prstGeom>
          <a:solidFill>
            <a:srgbClr val="2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38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4F6B"/>
                </a:solidFill>
                <a:latin typeface="Calibri"/>
              </a:rPr>
              <a:t>✓  WHAT'S WORKING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→  Snowflake is deployed and running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157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→  Initial reporting use case is functional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455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→  Team has early Snowflake familiarity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7530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→  Foundation data is accessible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050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→  Investment has been made and committed 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828800"/>
            <a:ext cx="3566160" cy="4206240"/>
          </a:xfrm>
          <a:prstGeom prst="rect">
            <a:avLst/>
          </a:prstGeom>
          <a:solidFill>
            <a:srgbClr val="F8F6F3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1828800"/>
            <a:ext cx="356616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1938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  <a:latin typeface="Calibri"/>
              </a:rPr>
              <a:t>✗  THE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→  No enterprise data architecture around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7157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→  Data silos across booking, CRM &amp; 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1455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→  No single source of truth for 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57530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→  No self-service for business teams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0050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→  No data governance or quality framework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1828800"/>
            <a:ext cx="3794760" cy="4206240"/>
          </a:xfrm>
          <a:prstGeom prst="rect">
            <a:avLst/>
          </a:prstGeom>
          <a:solidFill>
            <a:srgbClr val="1B4F6B"/>
          </a:solidFill>
          <a:ln w="12700">
            <a:solidFill>
              <a:srgbClr val="1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19385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96E"/>
                </a:solidFill>
                <a:latin typeface="Calibri"/>
              </a:rPr>
              <a:t>→  THE OPPORTUNITY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21284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Snowflake was a tactical fix.</a:t>
            </a:r>
          </a:p>
          <a:p>
            <a:pPr algn="l">
              <a:spcBef>
                <a:spcPts val="400"/>
              </a:spcBef>
            </a:pPr>
            <a:r>
              <a:rPr sz="1400" b="1" i="1">
                <a:solidFill>
                  <a:srgbClr val="C9A96E"/>
                </a:solidFill>
                <a:latin typeface="Georgia"/>
              </a:rPr>
              <a:t>It can become your strategic advantage.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2461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D9E8"/>
                </a:solidFill>
                <a:latin typeface="Calibri"/>
              </a:rPr>
              <a:t>◆  Unified view of every customer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6393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D9E8"/>
                </a:solidFill>
                <a:latin typeface="Calibri"/>
              </a:rPr>
              <a:t>◆  Real-time revenue &amp; margin visibility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0325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D9E8"/>
                </a:solidFill>
                <a:latin typeface="Calibri"/>
              </a:rPr>
              <a:t>◆  Self-service analytics for all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4256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D9E8"/>
                </a:solidFill>
                <a:latin typeface="Calibri"/>
              </a:rPr>
              <a:t>◆  Foundation for personalisation at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818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D9E8"/>
                </a:solidFill>
                <a:latin typeface="Calibri"/>
              </a:rPr>
              <a:t>◆  Data products for commercial decisions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5394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0AAC4"/>
                </a:solidFill>
                <a:latin typeface="Calibri"/>
              </a:rPr>
              <a:t>I've done this before — at Marlink
in an almost identical situation.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164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Georgia"/>
              </a:rPr>
              <a:t>KUONI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2062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9A96E"/>
                </a:solidFill>
                <a:latin typeface="Calibri"/>
              </a:rPr>
              <a:t>Data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C895"/>
                </a:solidFill>
                <a:latin typeface="Calibri"/>
              </a:rPr>
              <a:t>02  ·  THE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ED4"/>
                </a:solidFill>
                <a:latin typeface="Calibri"/>
              </a:rPr>
              <a:t>Confidential · Stephen Adebola ·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7772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4F6B"/>
                </a:solidFill>
                <a:latin typeface="Georgia"/>
              </a:rPr>
              <a:t>What great looks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25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What a properly designed data platform enables for a premium travel brand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1097280" cy="3657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828800"/>
            <a:ext cx="2651760" cy="960120"/>
          </a:xfrm>
          <a:prstGeom prst="rect">
            <a:avLst/>
          </a:prstGeom>
          <a:solidFill>
            <a:srgbClr val="1B4F6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9019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360°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3225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C895"/>
                </a:solidFill>
                <a:latin typeface="Calibri"/>
              </a:rPr>
              <a:t>Customer 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828800"/>
            <a:ext cx="265176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19019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3225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C895"/>
                </a:solidFill>
                <a:latin typeface="Calibri"/>
              </a:rPr>
              <a:t>Revenue Visibility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828800"/>
            <a:ext cx="2651760" cy="960120"/>
          </a:xfrm>
          <a:prstGeom prst="rect">
            <a:avLst/>
          </a:prstGeom>
          <a:solidFill>
            <a:srgbClr val="92400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19019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Self-service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3225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C895"/>
                </a:solidFill>
                <a:latin typeface="Calibri"/>
              </a:rPr>
              <a:t>Analytics for All Teams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1828800"/>
            <a:ext cx="265176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19019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Trusted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3225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C895"/>
                </a:solidFill>
                <a:latin typeface="Calibri"/>
              </a:rPr>
              <a:t>Single Source of Truth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971800"/>
            <a:ext cx="3657600" cy="3063240"/>
          </a:xfrm>
          <a:prstGeom prst="rect">
            <a:avLst/>
          </a:prstGeom>
          <a:solidFill>
            <a:srgbClr val="F8F6F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2971800"/>
            <a:ext cx="3657600" cy="54864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0906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4F6B"/>
                </a:solidFill>
                <a:latin typeface="Calibri"/>
              </a:rPr>
              <a:t>✈️  Commercial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4930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→  Booking patterns by destination, agent &amp; season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953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→  Revenue and margin per product 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2976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→  Cancellation and amendment trends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000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→  Channel performance (online vs agent)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1023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→  Yield management and pricing insight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0248" y="2971800"/>
            <a:ext cx="3657600" cy="3063240"/>
          </a:xfrm>
          <a:prstGeom prst="rect">
            <a:avLst/>
          </a:prstGeom>
          <a:solidFill>
            <a:srgbClr val="F8F6F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70248" y="2971800"/>
            <a:ext cx="3657600" cy="54864"/>
          </a:xfrm>
          <a:prstGeom prst="rect">
            <a:avLst/>
          </a:prstGeom>
          <a:solidFill>
            <a:srgbClr val="7835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8" y="30906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3506"/>
                </a:solidFill>
                <a:latin typeface="Calibri"/>
              </a:rPr>
              <a:t>👥  Customer 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34930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→  Lifetime value and loyalty segmentation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8" y="38953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→  Repeat booking likelihood modelling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42976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→  Personalisation signals across touchpoints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47000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→  Churn risk identification before it happens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07408" y="51023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→  Customer 360 — one view across all systems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9016" y="2971800"/>
            <a:ext cx="3657600" cy="3063240"/>
          </a:xfrm>
          <a:prstGeom prst="rect">
            <a:avLst/>
          </a:prstGeom>
          <a:solidFill>
            <a:srgbClr val="F8F6F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9016" y="2971800"/>
            <a:ext cx="3657600" cy="54864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66176" y="30906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532D"/>
                </a:solidFill>
                <a:latin typeface="Calibri"/>
              </a:rPr>
              <a:t>🏢  Operational Intelligence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6" y="34930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→  Supplier and destination performance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66176" y="38953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→  Agent productivity and conversion rates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6176" y="42976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→  Capacity utilisation and yield management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6176" y="47000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→  DERTOUR Group consolidated reporting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6176" y="51023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D3D"/>
                </a:solidFill>
                <a:latin typeface="Calibri"/>
              </a:rPr>
              <a:t>→  Real-time operational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164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Georgia"/>
              </a:rPr>
              <a:t>KUONI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2062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9A96E"/>
                </a:solidFill>
                <a:latin typeface="Calibri"/>
              </a:rPr>
              <a:t>Data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C895"/>
                </a:solidFill>
                <a:latin typeface="Calibri"/>
              </a:rPr>
              <a:t>03  ·  THE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ED4"/>
                </a:solidFill>
                <a:latin typeface="Calibri"/>
              </a:rPr>
              <a:t>Confidential · Stephen Adebola ·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7772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4F6B"/>
                </a:solidFill>
                <a:latin typeface="Georgia"/>
              </a:rPr>
              <a:t>Getting there in three phases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25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Structured, low-risk progression — quick wins first, transformation second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1097280" cy="3657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920240"/>
            <a:ext cx="3657600" cy="4297680"/>
          </a:xfrm>
          <a:prstGeom prst="rect">
            <a:avLst/>
          </a:prstGeom>
          <a:solidFill>
            <a:srgbClr val="F8F6F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920240"/>
            <a:ext cx="3657600" cy="54864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299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4F6B"/>
                </a:solidFill>
                <a:latin typeface="Calibri"/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4942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4F6B"/>
                </a:solidFill>
                <a:latin typeface="Georgia"/>
              </a:rPr>
              <a:t>Stabilise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334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Months 1 – 2  ·  Foundations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94436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Audit the existing Snowflake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0098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Map all data sources: booking, CRM, marketing, 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5760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Design enterprise data model (Medallion architecture)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14216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Bronze → Silver → Gold layer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7083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Data governance and naming conventions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2744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Connect Snowflake to Power BI — first trusted reports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120640"/>
            <a:ext cx="3383280" cy="822960"/>
          </a:xfrm>
          <a:prstGeom prst="rect">
            <a:avLst/>
          </a:prstGeom>
          <a:solidFill>
            <a:srgbClr val="1B4F6B"/>
          </a:solidFill>
          <a:ln w="12700">
            <a:solidFill>
              <a:srgbClr val="1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📌  A clean, trusted foundation — no more data arguments in meetings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1920240"/>
            <a:ext cx="3657600" cy="4297680"/>
          </a:xfrm>
          <a:prstGeom prst="rect">
            <a:avLst/>
          </a:prstGeom>
          <a:solidFill>
            <a:srgbClr val="F8F6F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248" y="1920240"/>
            <a:ext cx="365760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20299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96E"/>
                </a:solidFill>
                <a:latin typeface="Calibri"/>
              </a:rPr>
              <a:t>PHASE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224942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4F6B"/>
                </a:solidFill>
                <a:latin typeface="Georgia"/>
              </a:rPr>
              <a:t>Elevate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26334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Months 3 – 4  ·  Value Creation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294436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Build Customer 360 — unified profile across all touchpoints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330098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Launch governed Data Products per business domain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365760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Automate data quality monitoring and alerting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4014216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Enable self-service analytics via semantic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437083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Commercial revenue and margin dashboards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472744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Integrate dbt for automated transformation pipelines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07408" y="5120640"/>
            <a:ext cx="3383280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8848" y="52120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📌  Teams get answers in minutes, not weeks — without asking 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9016" y="1920240"/>
            <a:ext cx="3657600" cy="4297680"/>
          </a:xfrm>
          <a:prstGeom prst="rect">
            <a:avLst/>
          </a:prstGeom>
          <a:solidFill>
            <a:srgbClr val="F8F6F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9016" y="1920240"/>
            <a:ext cx="36576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66176" y="20299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Calibri"/>
              </a:rPr>
              <a:t>PHASE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6" y="224942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4F6B"/>
                </a:solidFill>
                <a:latin typeface="Georgia"/>
              </a:rPr>
              <a:t>Scale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6" y="26334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Months 5 – 6  ·  Strategic Advantage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6" y="294436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DERTOUR Group integration — consolidated multi-brand 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66176" y="330098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Predictive analytics: LTV scoring, churn risk, demand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6176" y="365760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Real-time personalisation data feeds for CRM &amp; marketing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6176" y="4014216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Snowflake credit governance and cost optimisation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6176" y="437083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AI/ML-ready data products for next phase of innovation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66176" y="472744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Centre of excellence — capability transferred to your team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66176" y="5120640"/>
            <a:ext cx="338328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57616" y="52120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📌  Kuoni is now a data-first business — built to compete and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164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Georgia"/>
              </a:rPr>
              <a:t>KUONI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2062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9A96E"/>
                </a:solidFill>
                <a:latin typeface="Calibri"/>
              </a:rPr>
              <a:t>Data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C895"/>
                </a:solidFill>
                <a:latin typeface="Calibri"/>
              </a:rPr>
              <a:t>04  ·  WHY 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ED4"/>
                </a:solidFill>
                <a:latin typeface="Calibri"/>
              </a:rPr>
              <a:t>Confidential · Stephen Adebola ·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7772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4F6B"/>
                </a:solidFill>
                <a:latin typeface="Georgia"/>
              </a:rPr>
              <a:t>I've done this 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25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Directly relevant experience — mapped to Kuoni's exact situation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1097280" cy="3657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920240"/>
            <a:ext cx="6400800" cy="1325880"/>
          </a:xfrm>
          <a:prstGeom prst="rect">
            <a:avLst/>
          </a:prstGeom>
          <a:solidFill>
            <a:srgbClr val="F8F6F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920240"/>
            <a:ext cx="64008" cy="1325880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11680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6B"/>
                </a:solidFill>
                <a:latin typeface="Calibri"/>
              </a:rPr>
              <a:t>Marlink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26771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F6B"/>
                </a:solidFill>
                <a:latin typeface="Calibri"/>
              </a:rPr>
              <a:t>Senior Data Architect  (Most Relevant)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487168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051"/>
                </a:solidFill>
                <a:latin typeface="Calibri"/>
              </a:rPr>
              <a:t>Led migration from Azure Databricks → Snowflake. Designed the enterprise data model for Customer, Product and Location domains. Architected MDM migration — exactly what Kuoni needs for its customer data. I've been through this exact journey: tactical Snowflake → strategic platform.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64992"/>
            <a:ext cx="6400800" cy="1325880"/>
          </a:xfrm>
          <a:prstGeom prst="rect">
            <a:avLst/>
          </a:prstGeom>
          <a:solidFill>
            <a:srgbClr val="F8F6F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364992"/>
            <a:ext cx="64008" cy="13258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456432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6B"/>
                </a:solidFill>
                <a:latin typeface="Calibri"/>
              </a:rPr>
              <a:t>AllianzGI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71246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Enterprise Platform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93192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051"/>
                </a:solidFill>
                <a:latin typeface="Calibri"/>
              </a:rPr>
              <a:t>Administered the enterprise Databricks platform. Stepped into a complex, already-live environment and brought order quickly. Every pattern transfers to Snowflake: Medallion, dbt, governance, Unity Catalog ≈ Snowflake Horizon.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809744"/>
            <a:ext cx="6400800" cy="1325880"/>
          </a:xfrm>
          <a:prstGeom prst="rect">
            <a:avLst/>
          </a:prstGeom>
          <a:solidFill>
            <a:srgbClr val="F8F6F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809744"/>
            <a:ext cx="64008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901184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6B"/>
                </a:solidFill>
                <a:latin typeface="Calibri"/>
              </a:rPr>
              <a:t>NHS England / Home Office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157216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Calibri"/>
              </a:rPr>
              <a:t>Principal Data Engineer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376672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051"/>
                </a:solidFill>
                <a:latin typeface="Calibri"/>
              </a:rPr>
              <a:t>1,000+ pipeline migrations at NHS England. 500+ pipelines at the Home Office. Reported to senior leadership and delivered at government scale — comfortable translating architecture into board-level language.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1920240"/>
            <a:ext cx="4663440" cy="4297680"/>
          </a:xfrm>
          <a:prstGeom prst="rect">
            <a:avLst/>
          </a:prstGeom>
          <a:solidFill>
            <a:srgbClr val="F8F6F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202996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4F6B"/>
                </a:solidFill>
                <a:latin typeface="Calibri"/>
              </a:rPr>
              <a:t>CORE CAPABILITIES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3774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Snowflake Architecture &amp; Design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80" y="2633472"/>
            <a:ext cx="429768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69480" y="2633472"/>
            <a:ext cx="4082796" cy="109728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287121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Data Modelling (ELDM / Star Schema)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80" y="3127248"/>
            <a:ext cx="429768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69480" y="3127248"/>
            <a:ext cx="4082796" cy="109728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33649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dbt / Medallion Architecture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3621024"/>
            <a:ext cx="429768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69480" y="3621024"/>
            <a:ext cx="3953865" cy="109728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9480" y="38587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Terraform / Platform-as-Code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80" y="4114800"/>
            <a:ext cx="429768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69480" y="4114800"/>
            <a:ext cx="3867912" cy="10972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43525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Data Governance &amp; Data Products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9480" y="4608576"/>
            <a:ext cx="429768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69480" y="4608576"/>
            <a:ext cx="3781958" cy="10972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9480" y="48463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Power BI / Analytics Layer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80" y="5102352"/>
            <a:ext cx="429768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69480" y="5102352"/>
            <a:ext cx="3567074" cy="109728"/>
          </a:xfrm>
          <a:prstGeom prst="rect">
            <a:avLst/>
          </a:prstGeom>
          <a:solidFill>
            <a:srgbClr val="2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9480" y="53400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C-suite Stakeholder Communication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69480" y="5596128"/>
            <a:ext cx="429768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69480" y="5596128"/>
            <a:ext cx="3781958" cy="10972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86600" y="5870448"/>
            <a:ext cx="4663440" cy="640080"/>
          </a:xfrm>
          <a:prstGeom prst="rect">
            <a:avLst/>
          </a:prstGeom>
          <a:solidFill>
            <a:srgbClr val="1B4F6B"/>
          </a:solidFill>
          <a:ln w="12700">
            <a:solidFill>
              <a:srgbClr val="1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23760" y="592531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⚡  Databricks expertise → transfers directly to Snowflake. Enterprise rigour, proven at scale.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164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Georgia"/>
              </a:rPr>
              <a:t>KUONI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2062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9A96E"/>
                </a:solidFill>
                <a:latin typeface="Calibri"/>
              </a:rPr>
              <a:t>Data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C895"/>
                </a:solidFill>
                <a:latin typeface="Calibri"/>
              </a:rPr>
              <a:t>05  ·  THE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ED4"/>
                </a:solidFill>
                <a:latin typeface="Calibri"/>
              </a:rPr>
              <a:t>Confidential · Stephen Adebola ·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7772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4F6B"/>
                </a:solidFill>
                <a:latin typeface="Georgia"/>
              </a:rPr>
              <a:t>My first 90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25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 concrete, structured start — no long runways, no lengthy discovery phases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1097280" cy="3657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920240"/>
            <a:ext cx="3657600" cy="4572000"/>
          </a:xfrm>
          <a:prstGeom prst="rect">
            <a:avLst/>
          </a:prstGeom>
          <a:solidFill>
            <a:srgbClr val="F8F6F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920240"/>
            <a:ext cx="3657600" cy="54864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029968"/>
            <a:ext cx="1371600" cy="256032"/>
          </a:xfrm>
          <a:prstGeom prst="rect">
            <a:avLst/>
          </a:prstGeom>
          <a:solidFill>
            <a:srgbClr val="1B4F6B"/>
          </a:solidFill>
          <a:ln w="12700">
            <a:solidFill>
              <a:srgbClr val="1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29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Days 1–30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3317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F6B"/>
                </a:solidFill>
                <a:latin typeface="Georgia"/>
              </a:rPr>
              <a:t>Listen &amp; Assess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78892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Meet every team that touches data — what do they need, what frustrates them?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3639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Full audit of Snowflake: schemas, queries, credit consumption, pipelines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83864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Map all data sources and integration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31336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Identify quick wins: what can we improve in 30 days?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7880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Understand DERTOUR Group reporting requirements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2628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Agree success metrics with Richard and the team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" y="4919472"/>
            <a:ext cx="3438144" cy="777240"/>
          </a:xfrm>
          <a:prstGeom prst="rect">
            <a:avLst/>
          </a:prstGeom>
          <a:solidFill>
            <a:srgbClr val="1B4F6B"/>
          </a:solidFill>
          <a:ln w="12700">
            <a:solidFill>
              <a:srgbClr val="1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983480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DELIVERABLE: Current State Report — honest assessment with prioritised recommendations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1920240"/>
            <a:ext cx="3657600" cy="4572000"/>
          </a:xfrm>
          <a:prstGeom prst="rect">
            <a:avLst/>
          </a:prstGeom>
          <a:solidFill>
            <a:srgbClr val="F8F6F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248" y="1920240"/>
            <a:ext cx="365760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07408" y="2029968"/>
            <a:ext cx="1371600" cy="25603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2029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Days 31–60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23317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F6B"/>
                </a:solidFill>
                <a:latin typeface="Georgia"/>
              </a:rPr>
              <a:t>Build &amp; Architect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278892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Implement Medallion architecture across existing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313639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Deploy enterprise data model — Customer, Booking, Destination,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3483864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First trusted Power BI dashboards live (revenue, bookings, agents)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3831336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Ship quick wins identified in Month 1 to stakeholders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417880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Data governance framework: ownership, naming, documentation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452628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Data quality checks automated — issues caught before reports break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79976" y="4919472"/>
            <a:ext cx="3438144" cy="7772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71416" y="4983480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DELIVERABLE: First trusted dashboards live — business teams can self-serve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9016" y="1920240"/>
            <a:ext cx="3657600" cy="4572000"/>
          </a:xfrm>
          <a:prstGeom prst="rect">
            <a:avLst/>
          </a:prstGeom>
          <a:solidFill>
            <a:srgbClr val="F8F6F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9016" y="1920240"/>
            <a:ext cx="36576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66176" y="2029968"/>
            <a:ext cx="137160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66176" y="2029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Days 61–90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6" y="23317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F6B"/>
                </a:solidFill>
                <a:latin typeface="Georgia"/>
              </a:rPr>
              <a:t>Accelerate &amp; Prove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6" y="278892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Data Products launched: Commercial, Customer, Operations domains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66176" y="313639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dbt pipelines automating Silver and Gold layer transformations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6176" y="3483864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Data quality monitoring in place with stakeholder alerting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6176" y="3831336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Strategic roadmap for Phases 2 &amp; 3 presented to leadership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6176" y="417880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Business case for continued investment — ROI demonstrated with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66176" y="452628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D3D"/>
                </a:solidFill>
                <a:latin typeface="Calibri"/>
              </a:rPr>
              <a:t>·  Knowledge transfer — your team can maintain and extend the platform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38744" y="4919472"/>
            <a:ext cx="3438144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0184" y="4983480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DELIVERABLE: Strategic Data Roadmap — board-ready, with clear outcomes and timelines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164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Georgia"/>
              </a:rPr>
              <a:t>KUONI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2062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9A96E"/>
                </a:solidFill>
                <a:latin typeface="Calibri"/>
              </a:rPr>
              <a:t>Data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C895"/>
                </a:solidFill>
                <a:latin typeface="Calibri"/>
              </a:rPr>
              <a:t>06  ·  THE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BED4"/>
                </a:solidFill>
                <a:latin typeface="Calibri"/>
              </a:rPr>
              <a:t>Confidential · Stephen Adebola ·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7772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4F6B"/>
                </a:solidFill>
                <a:latin typeface="Georgia"/>
              </a:rPr>
              <a:t>The target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25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Where Snowflake sits in a modern, integrated data platform for Kuoni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1097280" cy="3657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920240"/>
            <a:ext cx="5486400" cy="658368"/>
          </a:xfrm>
          <a:prstGeom prst="rect">
            <a:avLst/>
          </a:prstGeom>
          <a:solidFill>
            <a:srgbClr val="2E6E8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📥  Source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677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EF5"/>
                </a:solidFill>
                <a:latin typeface="Calibri"/>
              </a:rPr>
              <a:t>Booking engine · CRM · Marketing · Finance ·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578608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651760"/>
            <a:ext cx="5486400" cy="658368"/>
          </a:xfrm>
          <a:prstGeom prst="rect">
            <a:avLst/>
          </a:prstGeom>
          <a:solidFill>
            <a:srgbClr val="A1620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432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🥉  Bronze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992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EF5"/>
                </a:solidFill>
                <a:latin typeface="Calibri"/>
              </a:rPr>
              <a:t>Raw ingestion — full history, immutable, schema-on-read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310128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383280"/>
            <a:ext cx="5486400" cy="658368"/>
          </a:xfrm>
          <a:prstGeom prst="rect">
            <a:avLst/>
          </a:prstGeom>
          <a:solidFill>
            <a:srgbClr val="4B556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4747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🥈  Silver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307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EF5"/>
                </a:solidFill>
                <a:latin typeface="Calibri"/>
              </a:rPr>
              <a:t>Cleansed, standardised, deduplicated, validated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041648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114800"/>
            <a:ext cx="5486400" cy="658368"/>
          </a:xfrm>
          <a:prstGeom prst="rect">
            <a:avLst/>
          </a:prstGeom>
          <a:solidFill>
            <a:srgbClr val="92400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062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🥇  Gold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622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EF5"/>
                </a:solidFill>
                <a:latin typeface="Calibri"/>
              </a:rPr>
              <a:t>Business-ready views · Data Products · KPIs · Aggregates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773168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846320"/>
            <a:ext cx="548640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377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📊  Consumption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1937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EF5"/>
                </a:solidFill>
                <a:latin typeface="Calibri"/>
              </a:rPr>
              <a:t>Power BI · Self-service Analytics · APIs · AI/ML ready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920240"/>
            <a:ext cx="5577840" cy="1792224"/>
          </a:xfrm>
          <a:prstGeom prst="rect">
            <a:avLst/>
          </a:prstGeom>
          <a:solidFill>
            <a:srgbClr val="F8F6F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1920240"/>
            <a:ext cx="5577840" cy="54864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0116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4F6B"/>
                </a:solidFill>
                <a:latin typeface="Calibri"/>
              </a:rPr>
              <a:t>Governance at every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2677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Data ownership defined per domain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5968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Automated quality checks before Gold promotion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926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Full lineage — know where every number comes from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2552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Role-based access — right data to right people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3840480"/>
            <a:ext cx="5577840" cy="1463040"/>
          </a:xfrm>
          <a:prstGeom prst="rect">
            <a:avLst/>
          </a:prstGeom>
          <a:solidFill>
            <a:srgbClr val="F8F6F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3840480"/>
            <a:ext cx="557784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9319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96E"/>
                </a:solidFill>
                <a:latin typeface="Calibri"/>
              </a:rPr>
              <a:t>Self-service for the business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1879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Marketing can answer their own questions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5171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Commercial builds their own reports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846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IT focuses on architecture, not ad-hoc queries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5431536"/>
            <a:ext cx="5577840" cy="1463040"/>
          </a:xfrm>
          <a:prstGeom prst="rect">
            <a:avLst/>
          </a:prstGeom>
          <a:solidFill>
            <a:srgbClr val="F8F6F3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5431536"/>
            <a:ext cx="55778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55229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34A"/>
                </a:solidFill>
                <a:latin typeface="Calibri"/>
              </a:rPr>
              <a:t>DERTOUR Group integration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7790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Kuoni's platform becomes the group model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61081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Consolidated reporting across all brands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6437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◆  One architecture, scaled across the portfolio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095" y="0"/>
            <a:ext cx="3657600" cy="6858000"/>
          </a:xfrm>
          <a:prstGeom prst="rect">
            <a:avLst/>
          </a:prstGeom>
          <a:solidFill>
            <a:srgbClr val="17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88375" y="1371600"/>
            <a:ext cx="64008" cy="4114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Let's build something</a:t>
            </a:r>
          </a:p>
          <a:p>
            <a:pPr algn="l">
              <a:spcBef>
                <a:spcPts val="400"/>
              </a:spcBef>
            </a:pPr>
            <a:r>
              <a:rPr sz="4000" b="1" i="1">
                <a:solidFill>
                  <a:srgbClr val="C9A96E"/>
                </a:solidFill>
                <a:latin typeface="Georgia"/>
              </a:rPr>
              <a:t>worth having.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ED4"/>
                </a:solidFill>
                <a:latin typeface="Calibri"/>
              </a:rPr>
              <a:t>Kuoni has the data. Snowflake is in place. What's needed is the architecture,
the model, and the expertise to connect them into something that actually
drives the business forward.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663440"/>
            <a:ext cx="2011680" cy="1097280"/>
          </a:xfrm>
          <a:prstGeom prst="rect">
            <a:avLst/>
          </a:prstGeom>
          <a:solidFill>
            <a:srgbClr val="143D57"/>
          </a:solidFill>
          <a:ln w="12700">
            <a:solidFill>
              <a:srgbClr val="2E6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7365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9A96E"/>
                </a:solidFill>
                <a:latin typeface="Calibri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7433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 Architect
3 – 6 months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4663440"/>
            <a:ext cx="2011680" cy="1097280"/>
          </a:xfrm>
          <a:prstGeom prst="rect">
            <a:avLst/>
          </a:prstGeom>
          <a:solidFill>
            <a:srgbClr val="143D57"/>
          </a:solidFill>
          <a:ln w="12700">
            <a:solidFill>
              <a:srgbClr val="2E6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47365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9A96E"/>
                </a:solidFill>
                <a:latin typeface="Calibri"/>
              </a:rPr>
              <a:t>FIRST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97433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2-week discovery
Current state audit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4663440"/>
            <a:ext cx="2011680" cy="1097280"/>
          </a:xfrm>
          <a:prstGeom prst="rect">
            <a:avLst/>
          </a:prstGeom>
          <a:solidFill>
            <a:srgbClr val="143D57"/>
          </a:solidFill>
          <a:ln w="12700">
            <a:solidFill>
              <a:srgbClr val="2E6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47365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9A96E"/>
                </a:solidFill>
                <a:latin typeface="Calibri"/>
              </a:rPr>
              <a:t>90-DAY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97433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Strategic roadmap
board-ready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AAC4"/>
                </a:solidFill>
                <a:latin typeface="Calibri"/>
              </a:rPr>
              <a:t>Stephen Adebola   ·   stephen@haba.io   ·   Agent: Xavier Labat, La Fosse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KUONI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0358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A96E"/>
                </a:solidFill>
                <a:latin typeface="Calibri"/>
              </a:rPr>
              <a:t>Data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A96E"/>
                </a:solidFill>
                <a:latin typeface="Calibri"/>
              </a:rPr>
              <a:t>Platform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3749039"/>
            <a:ext cx="1645920" cy="3657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